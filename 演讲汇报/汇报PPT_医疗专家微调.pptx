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" name="Shape 1"/>
          <p:cNvSpPr/>
          <p:nvPr/>
        </p:nvSpPr>
        <p:spPr>
          <a:xfrm>
            <a:off x="649224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" name="Shape 2"/>
          <p:cNvSpPr/>
          <p:nvPr/>
        </p:nvSpPr>
        <p:spPr>
          <a:xfrm>
            <a:off x="795528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" name="Shape 3"/>
          <p:cNvSpPr/>
          <p:nvPr/>
        </p:nvSpPr>
        <p:spPr>
          <a:xfrm>
            <a:off x="941832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6" name="Shape 4"/>
          <p:cNvSpPr/>
          <p:nvPr/>
        </p:nvSpPr>
        <p:spPr>
          <a:xfrm>
            <a:off x="1088136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7" name="Shape 5"/>
          <p:cNvSpPr/>
          <p:nvPr/>
        </p:nvSpPr>
        <p:spPr>
          <a:xfrm>
            <a:off x="1234440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8" name="Shape 6"/>
          <p:cNvSpPr/>
          <p:nvPr/>
        </p:nvSpPr>
        <p:spPr>
          <a:xfrm>
            <a:off x="1380744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9" name="Shape 7"/>
          <p:cNvSpPr/>
          <p:nvPr/>
        </p:nvSpPr>
        <p:spPr>
          <a:xfrm>
            <a:off x="1527048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0" name="Shape 8"/>
          <p:cNvSpPr/>
          <p:nvPr/>
        </p:nvSpPr>
        <p:spPr>
          <a:xfrm>
            <a:off x="1673352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1" name="Shape 9"/>
          <p:cNvSpPr/>
          <p:nvPr/>
        </p:nvSpPr>
        <p:spPr>
          <a:xfrm>
            <a:off x="1819656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2" name="Shape 10"/>
          <p:cNvSpPr/>
          <p:nvPr/>
        </p:nvSpPr>
        <p:spPr>
          <a:xfrm>
            <a:off x="1965960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3" name="Shape 11"/>
          <p:cNvSpPr/>
          <p:nvPr/>
        </p:nvSpPr>
        <p:spPr>
          <a:xfrm>
            <a:off x="2112264" y="45720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4" name="Shape 12"/>
          <p:cNvSpPr/>
          <p:nvPr/>
        </p:nvSpPr>
        <p:spPr>
          <a:xfrm>
            <a:off x="502920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5" name="Shape 13"/>
          <p:cNvSpPr/>
          <p:nvPr/>
        </p:nvSpPr>
        <p:spPr>
          <a:xfrm>
            <a:off x="649224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6" name="Shape 14"/>
          <p:cNvSpPr/>
          <p:nvPr/>
        </p:nvSpPr>
        <p:spPr>
          <a:xfrm>
            <a:off x="795528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7" name="Shape 15"/>
          <p:cNvSpPr/>
          <p:nvPr/>
        </p:nvSpPr>
        <p:spPr>
          <a:xfrm>
            <a:off x="941832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8" name="Shape 16"/>
          <p:cNvSpPr/>
          <p:nvPr/>
        </p:nvSpPr>
        <p:spPr>
          <a:xfrm>
            <a:off x="1088136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9" name="Shape 17"/>
          <p:cNvSpPr/>
          <p:nvPr/>
        </p:nvSpPr>
        <p:spPr>
          <a:xfrm>
            <a:off x="1234440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0" name="Shape 18"/>
          <p:cNvSpPr/>
          <p:nvPr/>
        </p:nvSpPr>
        <p:spPr>
          <a:xfrm>
            <a:off x="1380744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1" name="Shape 19"/>
          <p:cNvSpPr/>
          <p:nvPr/>
        </p:nvSpPr>
        <p:spPr>
          <a:xfrm>
            <a:off x="1527048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2" name="Shape 20"/>
          <p:cNvSpPr/>
          <p:nvPr/>
        </p:nvSpPr>
        <p:spPr>
          <a:xfrm>
            <a:off x="1673352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3" name="Shape 21"/>
          <p:cNvSpPr/>
          <p:nvPr/>
        </p:nvSpPr>
        <p:spPr>
          <a:xfrm>
            <a:off x="1819656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4" name="Shape 22"/>
          <p:cNvSpPr/>
          <p:nvPr/>
        </p:nvSpPr>
        <p:spPr>
          <a:xfrm>
            <a:off x="1965960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5" name="Shape 23"/>
          <p:cNvSpPr/>
          <p:nvPr/>
        </p:nvSpPr>
        <p:spPr>
          <a:xfrm>
            <a:off x="2112264" y="60350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6" name="Shape 24"/>
          <p:cNvSpPr/>
          <p:nvPr/>
        </p:nvSpPr>
        <p:spPr>
          <a:xfrm>
            <a:off x="502920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7" name="Shape 25"/>
          <p:cNvSpPr/>
          <p:nvPr/>
        </p:nvSpPr>
        <p:spPr>
          <a:xfrm>
            <a:off x="649224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8" name="Shape 26"/>
          <p:cNvSpPr/>
          <p:nvPr/>
        </p:nvSpPr>
        <p:spPr>
          <a:xfrm>
            <a:off x="795528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9" name="Shape 27"/>
          <p:cNvSpPr/>
          <p:nvPr/>
        </p:nvSpPr>
        <p:spPr>
          <a:xfrm>
            <a:off x="941832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0" name="Shape 28"/>
          <p:cNvSpPr/>
          <p:nvPr/>
        </p:nvSpPr>
        <p:spPr>
          <a:xfrm>
            <a:off x="1088136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1" name="Shape 29"/>
          <p:cNvSpPr/>
          <p:nvPr/>
        </p:nvSpPr>
        <p:spPr>
          <a:xfrm>
            <a:off x="1234440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2" name="Shape 30"/>
          <p:cNvSpPr/>
          <p:nvPr/>
        </p:nvSpPr>
        <p:spPr>
          <a:xfrm>
            <a:off x="1380744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3" name="Shape 31"/>
          <p:cNvSpPr/>
          <p:nvPr/>
        </p:nvSpPr>
        <p:spPr>
          <a:xfrm>
            <a:off x="1527048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4" name="Shape 32"/>
          <p:cNvSpPr/>
          <p:nvPr/>
        </p:nvSpPr>
        <p:spPr>
          <a:xfrm>
            <a:off x="1673352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5" name="Shape 33"/>
          <p:cNvSpPr/>
          <p:nvPr/>
        </p:nvSpPr>
        <p:spPr>
          <a:xfrm>
            <a:off x="1819656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6" name="Shape 34"/>
          <p:cNvSpPr/>
          <p:nvPr/>
        </p:nvSpPr>
        <p:spPr>
          <a:xfrm>
            <a:off x="1965960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7" name="Shape 35"/>
          <p:cNvSpPr/>
          <p:nvPr/>
        </p:nvSpPr>
        <p:spPr>
          <a:xfrm>
            <a:off x="2112264" y="74980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8" name="Shape 36"/>
          <p:cNvSpPr/>
          <p:nvPr/>
        </p:nvSpPr>
        <p:spPr>
          <a:xfrm>
            <a:off x="502920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9" name="Shape 37"/>
          <p:cNvSpPr/>
          <p:nvPr/>
        </p:nvSpPr>
        <p:spPr>
          <a:xfrm>
            <a:off x="649224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0" name="Shape 38"/>
          <p:cNvSpPr/>
          <p:nvPr/>
        </p:nvSpPr>
        <p:spPr>
          <a:xfrm>
            <a:off x="795528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1" name="Shape 39"/>
          <p:cNvSpPr/>
          <p:nvPr/>
        </p:nvSpPr>
        <p:spPr>
          <a:xfrm>
            <a:off x="941832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2" name="Shape 40"/>
          <p:cNvSpPr/>
          <p:nvPr/>
        </p:nvSpPr>
        <p:spPr>
          <a:xfrm>
            <a:off x="1088136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3" name="Shape 41"/>
          <p:cNvSpPr/>
          <p:nvPr/>
        </p:nvSpPr>
        <p:spPr>
          <a:xfrm>
            <a:off x="1234440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4" name="Shape 42"/>
          <p:cNvSpPr/>
          <p:nvPr/>
        </p:nvSpPr>
        <p:spPr>
          <a:xfrm>
            <a:off x="1380744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5" name="Shape 43"/>
          <p:cNvSpPr/>
          <p:nvPr/>
        </p:nvSpPr>
        <p:spPr>
          <a:xfrm>
            <a:off x="1527048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6" name="Shape 44"/>
          <p:cNvSpPr/>
          <p:nvPr/>
        </p:nvSpPr>
        <p:spPr>
          <a:xfrm>
            <a:off x="1673352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7" name="Shape 45"/>
          <p:cNvSpPr/>
          <p:nvPr/>
        </p:nvSpPr>
        <p:spPr>
          <a:xfrm>
            <a:off x="1819656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8" name="Shape 46"/>
          <p:cNvSpPr/>
          <p:nvPr/>
        </p:nvSpPr>
        <p:spPr>
          <a:xfrm>
            <a:off x="1965960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9" name="Shape 47"/>
          <p:cNvSpPr/>
          <p:nvPr/>
        </p:nvSpPr>
        <p:spPr>
          <a:xfrm>
            <a:off x="2112264" y="89611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0" name="Shape 48"/>
          <p:cNvSpPr/>
          <p:nvPr/>
        </p:nvSpPr>
        <p:spPr>
          <a:xfrm>
            <a:off x="502920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1" name="Shape 49"/>
          <p:cNvSpPr/>
          <p:nvPr/>
        </p:nvSpPr>
        <p:spPr>
          <a:xfrm>
            <a:off x="649224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2" name="Shape 50"/>
          <p:cNvSpPr/>
          <p:nvPr/>
        </p:nvSpPr>
        <p:spPr>
          <a:xfrm>
            <a:off x="795528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3" name="Shape 51"/>
          <p:cNvSpPr/>
          <p:nvPr/>
        </p:nvSpPr>
        <p:spPr>
          <a:xfrm>
            <a:off x="941832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4" name="Shape 52"/>
          <p:cNvSpPr/>
          <p:nvPr/>
        </p:nvSpPr>
        <p:spPr>
          <a:xfrm>
            <a:off x="1088136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5" name="Shape 53"/>
          <p:cNvSpPr/>
          <p:nvPr/>
        </p:nvSpPr>
        <p:spPr>
          <a:xfrm>
            <a:off x="1234440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6" name="Shape 54"/>
          <p:cNvSpPr/>
          <p:nvPr/>
        </p:nvSpPr>
        <p:spPr>
          <a:xfrm>
            <a:off x="1380744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7" name="Shape 55"/>
          <p:cNvSpPr/>
          <p:nvPr/>
        </p:nvSpPr>
        <p:spPr>
          <a:xfrm>
            <a:off x="1527048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8" name="Shape 56"/>
          <p:cNvSpPr/>
          <p:nvPr/>
        </p:nvSpPr>
        <p:spPr>
          <a:xfrm>
            <a:off x="1673352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9" name="Shape 57"/>
          <p:cNvSpPr/>
          <p:nvPr/>
        </p:nvSpPr>
        <p:spPr>
          <a:xfrm>
            <a:off x="1819656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60" name="Shape 58"/>
          <p:cNvSpPr/>
          <p:nvPr/>
        </p:nvSpPr>
        <p:spPr>
          <a:xfrm>
            <a:off x="1965960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61" name="Shape 59"/>
          <p:cNvSpPr/>
          <p:nvPr/>
        </p:nvSpPr>
        <p:spPr>
          <a:xfrm>
            <a:off x="2112264" y="104241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62" name="Shape 60"/>
          <p:cNvSpPr/>
          <p:nvPr/>
        </p:nvSpPr>
        <p:spPr>
          <a:xfrm>
            <a:off x="7452360" y="411480"/>
            <a:ext cx="1417320" cy="1417320"/>
          </a:xfrm>
          <a:prstGeom prst="ellipse">
            <a:avLst/>
          </a:prstGeom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64170" y="723290"/>
            <a:ext cx="793699" cy="793699"/>
          </a:xfrm>
          <a:prstGeom prst="ellipse">
            <a:avLst/>
          </a:prstGeom>
          <a:ln w="9525">
            <a:solidFill>
              <a:srgbClr val="7FE0F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75981" y="1035101"/>
            <a:ext cx="170078" cy="170078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65" name="Shape 63"/>
          <p:cNvSpPr/>
          <p:nvPr/>
        </p:nvSpPr>
        <p:spPr>
          <a:xfrm>
            <a:off x="566928" y="1481328"/>
            <a:ext cx="68580" cy="13716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66" name="Text 64"/>
          <p:cNvSpPr/>
          <p:nvPr/>
        </p:nvSpPr>
        <p:spPr>
          <a:xfrm>
            <a:off x="777240" y="141732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泰迪实训《基于 DeepSeek 大模型微调的医疗专家模型》· 课程汇报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49808" y="1700784"/>
            <a:ext cx="75895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Qwen3.5-4B 的医疗专家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777240" y="2340864"/>
            <a:ext cx="7589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大模型微调与部署</a:t>
            </a:r>
            <a:endParaRPr lang="en-US" sz="1900" dirty="0"/>
          </a:p>
        </p:txBody>
      </p:sp>
      <p:sp>
        <p:nvSpPr>
          <p:cNvPr id="69" name="Text 67"/>
          <p:cNvSpPr/>
          <p:nvPr/>
        </p:nvSpPr>
        <p:spPr>
          <a:xfrm>
            <a:off x="777240" y="2907792"/>
            <a:ext cx="7406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从环境准备、数据清洗、QLoRA 微调、显存调优，到 GGUF 量化、Ollama 部署，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最终把微调成果真实上线到团队自研医疗问答应用「医小咪」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777240" y="3639312"/>
            <a:ext cx="7589520" cy="18288"/>
          </a:xfrm>
          <a:prstGeom prst="rect">
            <a:avLst/>
          </a:prstGeom>
          <a:solidFill>
            <a:srgbClr val="24406E"/>
          </a:solidFill>
        </p:spPr>
      </p:sp>
      <p:sp>
        <p:nvSpPr>
          <p:cNvPr id="71" name="Text 69"/>
          <p:cNvSpPr/>
          <p:nvPr/>
        </p:nvSpPr>
        <p:spPr>
          <a:xfrm>
            <a:off x="777240" y="3767328"/>
            <a:ext cx="7589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汇报小组：4 人    ｜    汇报时长：不少于 30 分钟    ｜    现场运行代码 + 展示运行结果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777240" y="4133088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技术栈：Qwen3.5-4B · QLoRA · peft · bitsandbytes · llama.cpp · Ollama · FastAPI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汇报目录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0" y="4837176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九大模块 + 附录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1325880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</p:sp>
      <p:sp>
        <p:nvSpPr>
          <p:cNvPr id="11" name="Text 9"/>
          <p:cNvSpPr/>
          <p:nvPr/>
        </p:nvSpPr>
        <p:spPr>
          <a:xfrm>
            <a:off x="585216" y="1325880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1243584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1472184"/>
            <a:ext cx="3200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行业痛点 · 项目定位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91456" y="1325880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</p:sp>
      <p:sp>
        <p:nvSpPr>
          <p:cNvPr id="16" name="Text 14"/>
          <p:cNvSpPr/>
          <p:nvPr/>
        </p:nvSpPr>
        <p:spPr>
          <a:xfrm>
            <a:off x="4791456" y="1325880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76672" y="1243584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技术选型与整体方案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76672" y="1472184"/>
            <a:ext cx="3200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 / 方法 / 流程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847088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1984248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</p:sp>
      <p:sp>
        <p:nvSpPr>
          <p:cNvPr id="21" name="Text 19"/>
          <p:cNvSpPr/>
          <p:nvPr/>
        </p:nvSpPr>
        <p:spPr>
          <a:xfrm>
            <a:off x="585216" y="1984248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1901952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环境准备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2130552"/>
            <a:ext cx="3200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软件栈 · 模型下载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847088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1456" y="1984248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</p:sp>
      <p:sp>
        <p:nvSpPr>
          <p:cNvPr id="26" name="Text 24"/>
          <p:cNvSpPr/>
          <p:nvPr/>
        </p:nvSpPr>
        <p:spPr>
          <a:xfrm>
            <a:off x="4791456" y="1984248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76672" y="1901952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数据准备与处理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6672" y="2130552"/>
            <a:ext cx="3200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切分 · 查重 · 格式转换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505456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" y="2642616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</p:sp>
      <p:sp>
        <p:nvSpPr>
          <p:cNvPr id="31" name="Text 29"/>
          <p:cNvSpPr/>
          <p:nvPr/>
        </p:nvSpPr>
        <p:spPr>
          <a:xfrm>
            <a:off x="585216" y="2642616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70432" y="2560320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QLoRA 微调实现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70432" y="2788920"/>
            <a:ext cx="3200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原理 · 核心参数 · 防OOM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505456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2642616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</p:sp>
      <p:sp>
        <p:nvSpPr>
          <p:cNvPr id="36" name="Text 34"/>
          <p:cNvSpPr/>
          <p:nvPr/>
        </p:nvSpPr>
        <p:spPr>
          <a:xfrm>
            <a:off x="4791456" y="2642616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76672" y="2560320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训练执行与调优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76672" y="2788920"/>
            <a:ext cx="3200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真实数据 · 碎片化救场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163824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5216" y="3300984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</p:sp>
      <p:sp>
        <p:nvSpPr>
          <p:cNvPr id="41" name="Text 39"/>
          <p:cNvSpPr/>
          <p:nvPr/>
        </p:nvSpPr>
        <p:spPr>
          <a:xfrm>
            <a:off x="585216" y="3300984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70432" y="3218688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效果验证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70432" y="3447288"/>
            <a:ext cx="3200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三版本公平对比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163824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91456" y="3300984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</p:sp>
      <p:sp>
        <p:nvSpPr>
          <p:cNvPr id="46" name="Text 44"/>
          <p:cNvSpPr/>
          <p:nvPr/>
        </p:nvSpPr>
        <p:spPr>
          <a:xfrm>
            <a:off x="4791456" y="3300984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76672" y="3218688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部署上线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76672" y="3447288"/>
            <a:ext cx="3200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合并 · 量化 · Ollama · 集成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822192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5216" y="3959352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</p:sp>
      <p:sp>
        <p:nvSpPr>
          <p:cNvPr id="51" name="Text 49"/>
          <p:cNvSpPr/>
          <p:nvPr/>
        </p:nvSpPr>
        <p:spPr>
          <a:xfrm>
            <a:off x="585216" y="3959352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70432" y="3877056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70432" y="4105656"/>
            <a:ext cx="3200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 · 后续方向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3822192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91456" y="3959352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</p:sp>
      <p:sp>
        <p:nvSpPr>
          <p:cNvPr id="56" name="Text 54"/>
          <p:cNvSpPr/>
          <p:nvPr/>
        </p:nvSpPr>
        <p:spPr>
          <a:xfrm>
            <a:off x="4791456" y="3959352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76672" y="3877056"/>
            <a:ext cx="3200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附录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76672" y="4105656"/>
            <a:ext cx="3200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演示清单 · 问题记录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项目背景与目标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人工智能赋能医疗的迫切性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0" y="4837176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数据来源：课程 PPT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45720" cy="740664"/>
          </a:xfrm>
          <a:prstGeom prst="rect">
            <a:avLst/>
          </a:prstGeom>
          <a:solidFill>
            <a:srgbClr val="FF8A8A"/>
          </a:solidFill>
        </p:spPr>
      </p:sp>
      <p:sp>
        <p:nvSpPr>
          <p:cNvPr id="11" name="Text 9"/>
          <p:cNvSpPr/>
          <p:nvPr/>
        </p:nvSpPr>
        <p:spPr>
          <a:xfrm>
            <a:off x="585216" y="1261872"/>
            <a:ext cx="2395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8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40%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85216" y="1801368"/>
            <a:ext cx="23957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基层医疗机构误诊率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170432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280160"/>
            <a:ext cx="45720" cy="740664"/>
          </a:xfrm>
          <a:prstGeom prst="rect">
            <a:avLst/>
          </a:prstGeom>
          <a:solidFill>
            <a:srgbClr val="4ADE80"/>
          </a:solidFill>
        </p:spPr>
      </p:sp>
      <p:sp>
        <p:nvSpPr>
          <p:cNvPr id="15" name="Text 13"/>
          <p:cNvSpPr/>
          <p:nvPr/>
        </p:nvSpPr>
        <p:spPr>
          <a:xfrm>
            <a:off x="3374136" y="1261872"/>
            <a:ext cx="2395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374136" y="1801368"/>
            <a:ext cx="23957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三甲医院误诊率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170432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280160"/>
            <a:ext cx="45720" cy="74066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9" name="Text 17"/>
          <p:cNvSpPr/>
          <p:nvPr/>
        </p:nvSpPr>
        <p:spPr>
          <a:xfrm>
            <a:off x="6163056" y="1261872"/>
            <a:ext cx="2395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20,000 条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163056" y="1801368"/>
            <a:ext cx="23957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课程提供医疗问答数据集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395728"/>
            <a:ext cx="8229600" cy="329184"/>
          </a:xfrm>
          <a:prstGeom prst="roundRect">
            <a:avLst>
              <a:gd name="adj" fmla="val 8333"/>
            </a:avLst>
          </a:prstGeom>
          <a:solidFill>
            <a:srgbClr val="16305C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2395728"/>
            <a:ext cx="21214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行业痛点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25496" y="2395728"/>
            <a:ext cx="5779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具体表现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724912"/>
            <a:ext cx="8229600" cy="502920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" y="2724912"/>
            <a:ext cx="2121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医疗资源分布不均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25496" y="2724912"/>
            <a:ext cx="57790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基层医疗机构误诊率高达 40%，而三甲医院仅 5%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27832"/>
            <a:ext cx="8229600" cy="502920"/>
          </a:xfrm>
          <a:prstGeom prst="rect">
            <a:avLst/>
          </a:prstGeom>
          <a:solidFill>
            <a:srgbClr val="0A1E3C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" y="3227832"/>
            <a:ext cx="2121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复杂病例分析效率低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25496" y="3227832"/>
            <a:ext cx="57790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跨学科病例需多科室会诊，耗时长、成本高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730752"/>
            <a:ext cx="8229600" cy="502920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" y="3730752"/>
            <a:ext cx="2121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医学知识更新滞后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25496" y="3730752"/>
            <a:ext cx="57790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一线医生的知识更新速度滞后于医学研究进展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096512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16305C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" y="4096512"/>
            <a:ext cx="79735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结论：医疗场景需要更精准、更专业、能跟上知识更新的 AI 助手 —— 这正是本项目要解决的问题。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项目背景与目标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通用大模型的医疗瓶颈 → 本项目目标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通用模型在医疗场景的三大短板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3657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725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专业术语理解偏差</a:t>
            </a:r>
            <a:endParaRPr lang="en-US" sz="1150" dirty="0"/>
          </a:p>
          <a:p>
            <a:pPr marL="0" indent="0">
              <a:lnSpc>
                <a:spcPts val="172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“转移”在医学语境里 = 癌症扩散</a:t>
            </a:r>
            <a:endParaRPr lang="en-US" sz="1150" dirty="0"/>
          </a:p>
          <a:p>
            <a:pPr marL="0" indent="0">
              <a:lnSpc>
                <a:spcPts val="1725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逻辑推理严谨性不足</a:t>
            </a:r>
            <a:endParaRPr lang="en-US" sz="1150" dirty="0"/>
          </a:p>
          <a:p>
            <a:pPr marL="0" indent="0">
              <a:lnSpc>
                <a:spcPts val="172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忽略过敏史等上下文 → 可能推荐禁忌药物</a:t>
            </a:r>
            <a:endParaRPr lang="en-US" sz="1150" dirty="0"/>
          </a:p>
          <a:p>
            <a:pPr marL="0" indent="0">
              <a:lnSpc>
                <a:spcPts val="1725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知识更新滞后</a:t>
            </a:r>
            <a:endParaRPr lang="en-US" sz="1150" dirty="0"/>
          </a:p>
          <a:p>
            <a:pPr marL="0" indent="0">
              <a:lnSpc>
                <a:spcPts val="172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依赖过时的临床指南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本项目目标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682496"/>
            <a:ext cx="3657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微调，是增强大模型原生能力的最佳方法。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2029968"/>
            <a:ext cx="36576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用专业医疗数据对通用模型做专项提升，训练一个「医疗专家模型」，使其为医疗场景提供精准服务。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73752" y="2944368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16305C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2944368"/>
            <a:ext cx="3401568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我们不止于“训练完就结束”：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把微调成果真实部署上线，升级团队自研的医疗问答应用「医小咪」，让微调模型直接服务真实用户。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技术选型与整体方案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模型与方法选择（体现自主性）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0" y="4837176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课程允许自选模型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8229600" cy="329184"/>
          </a:xfrm>
          <a:prstGeom prst="roundRect">
            <a:avLst>
              <a:gd name="adj" fmla="val 8333"/>
            </a:avLst>
          </a:prstGeom>
          <a:solidFill>
            <a:srgbClr val="16305C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170432"/>
            <a:ext cx="10241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28216" y="1170432"/>
            <a:ext cx="20299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22776" y="1170432"/>
            <a:ext cx="46817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499616"/>
            <a:ext cx="8229600" cy="566928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1499616"/>
            <a:ext cx="10241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基座模型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28216" y="1499616"/>
            <a:ext cx="202996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22776" y="1499616"/>
            <a:ext cx="46817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课程推荐 DeepSeek-R1-Distill 但允许自选；选 Qwen 系可无缝部署回自研医小咪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066544"/>
            <a:ext cx="8229600" cy="566928"/>
          </a:xfrm>
          <a:prstGeom prst="rect">
            <a:avLst/>
          </a:prstGeom>
          <a:solidFill>
            <a:srgbClr val="0A1E3C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2066544"/>
            <a:ext cx="10241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28216" y="2066544"/>
            <a:ext cx="202996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22776" y="2066544"/>
            <a:ext cx="46817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8G 显存笔记本可训练；1.5B 效果有限，7B/8B 显存放不下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33472"/>
            <a:ext cx="8229600" cy="566928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2633472"/>
            <a:ext cx="10241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微调方法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28216" y="2633472"/>
            <a:ext cx="202996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QLoRA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22776" y="2633472"/>
            <a:ext cx="46817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4bit 量化省显存 + LoRA 只训少量参数，消费级显卡的标准方案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8229600" cy="566928"/>
          </a:xfrm>
          <a:prstGeom prst="rect">
            <a:avLst/>
          </a:prstGeom>
          <a:solidFill>
            <a:srgbClr val="0A1E3C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3200400"/>
            <a:ext cx="10241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训练数据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28216" y="3200400"/>
            <a:ext cx="202996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medical_cot_zh.jsonl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22776" y="3200400"/>
            <a:ext cx="46817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课程提供 2W 条医疗问答，Question / Complex_CoT / Response 三字段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67328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877056"/>
            <a:ext cx="45720" cy="649224"/>
          </a:xfrm>
          <a:prstGeom prst="rect">
            <a:avLst/>
          </a:prstGeom>
          <a:solidFill>
            <a:srgbClr val="FFC857"/>
          </a:solidFill>
        </p:spPr>
      </p:sp>
      <p:sp>
        <p:nvSpPr>
          <p:cNvPr id="31" name="Text 29"/>
          <p:cNvSpPr/>
          <p:nvPr/>
        </p:nvSpPr>
        <p:spPr>
          <a:xfrm>
            <a:off x="585216" y="3858768"/>
            <a:ext cx="2395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8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RTX 5070 · 8GB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5216" y="4306824"/>
            <a:ext cx="23957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显存（全项目最大挑战）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3767328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3877056"/>
            <a:ext cx="45720" cy="64922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5" name="Text 33"/>
          <p:cNvSpPr/>
          <p:nvPr/>
        </p:nvSpPr>
        <p:spPr>
          <a:xfrm>
            <a:off x="3374136" y="3858768"/>
            <a:ext cx="2395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16GB / WSL 12GB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374136" y="4306824"/>
            <a:ext cx="23957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主机内存与 WSL 分配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3767328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3877056"/>
            <a:ext cx="45720" cy="649224"/>
          </a:xfrm>
          <a:prstGeom prst="rect">
            <a:avLst/>
          </a:prstGeom>
          <a:solidFill>
            <a:srgbClr val="7FE0FF"/>
          </a:solidFill>
        </p:spPr>
      </p:sp>
      <p:sp>
        <p:nvSpPr>
          <p:cNvPr id="39" name="Text 37"/>
          <p:cNvSpPr/>
          <p:nvPr/>
        </p:nvSpPr>
        <p:spPr>
          <a:xfrm>
            <a:off x="6163056" y="3858768"/>
            <a:ext cx="2395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Windows + WSL2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163056" y="4306824"/>
            <a:ext cx="23957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运行环境（Ubuntu）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技术选型与整体方案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整体流程落地（课程 PPT Slide 5 → 本项目 11 步）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133856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课程给出的核心流程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417320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环境准备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5338" y="1417320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25066" y="1417320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1642" y="1417320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模型准备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83203" y="1417320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92931" y="1417320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9507" y="1417320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数据准备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51069" y="1417320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60797" y="1417320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7373" y="1417320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数据格式整理转换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18934" y="1417320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28662" y="1417320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65238" y="1417320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微调参数设置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1993392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本项目的完整落地链路（多走 6 步一直到上线）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286000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模型下载(ModelScope)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5338" y="2286000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25066" y="2286000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61642" y="2286000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数据切分/查重/查重叠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83203" y="2286000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92931" y="2286000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9507" y="2286000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R1 风格格式转换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51069" y="2286000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60797" y="2286000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7373" y="2286000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QLoRA 微调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18934" y="2286000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28662" y="2286000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5238" y="2286000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效果验证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2761488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2761488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 CPU 合并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15338" y="2761488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25066" y="2761488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61642" y="2761488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GGUF 转换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83203" y="2761488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792931" y="2761488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29507" y="2761488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Q4_K_M 量化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51069" y="2761488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60797" y="2761488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97373" y="2761488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Ollama 部署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18934" y="2761488"/>
            <a:ext cx="10972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128662" y="2761488"/>
            <a:ext cx="1558138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65238" y="2761488"/>
            <a:ext cx="148498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应用集成上线医小咪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364992"/>
            <a:ext cx="8229600" cy="1243584"/>
          </a:xfrm>
          <a:prstGeom prst="roundRect">
            <a:avLst>
              <a:gd name="adj" fmla="val 3676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" y="3364992"/>
            <a:ext cx="7973568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三个「多走的一步」是本项目的加分项：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数据卫生（查重 + 新旧数据零重叠比对）—— 保证训练数据干净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效果验证的省显存公平对比 —— 同一份基座轮换适配器，结果可比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真实部署上线 —— 不停留在实验，直接服务真实用户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环境准备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模型下载 与 训练前铁律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模型下载：魔搭 ModelScope（国内快）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1664208"/>
            <a:ext cx="3657600" cy="1188720"/>
          </a:xfrm>
          <a:prstGeom prst="roundRect">
            <a:avLst>
              <a:gd name="adj" fmla="val 3846"/>
            </a:avLst>
          </a:prstGeom>
          <a:solidFill>
            <a:srgbClr val="061428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37360"/>
            <a:ext cx="3401568" cy="10424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modelscope import snapshot_download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snapshot_download(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"Qwen/Qwen3.5-4B",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local_dir="Qwen3.5-4B-Instruct")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926080"/>
            <a:ext cx="365760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实测 ~11 MB/s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9.3GB 权重约 10-15 分钟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踩坑：魔搭网页 200 是假象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SPA 页面永远返回 200，必须用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api/v1/models/&lt;repo&gt; 探测真实性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训练前两条铁律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682496"/>
            <a:ext cx="3657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5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微调前必须停掉 Ollama</a:t>
            </a:r>
            <a:endParaRPr lang="en-US" sz="1100" dirty="0"/>
          </a:p>
          <a:p>
            <a:pPr marL="0" indent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Ollama 常驻会占约 6.3G 显存，\n不释放根本训不动</a:t>
            </a:r>
            <a:endParaRPr lang="en-US" sz="1100" dirty="0"/>
          </a:p>
          <a:p>
            <a:pPr marL="0" indent="0">
              <a:lnSpc>
                <a:spcPts val="165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训练前显存必须为 0 MiB</a:t>
            </a:r>
            <a:endParaRPr lang="en-US" sz="1100" dirty="0"/>
          </a:p>
          <a:p>
            <a:pPr marL="0" indent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nvidia-smi 确认无占用再启动训练</a:t>
            </a:r>
            <a:endParaRPr lang="en-US" sz="1100" dirty="0"/>
          </a:p>
          <a:p>
            <a:pPr marL="0" indent="0">
              <a:lnSpc>
                <a:spcPts val="165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8G 显存 = 全项目最大约束</a:t>
            </a:r>
            <a:endParaRPr lang="en-US" sz="1100" dirty="0"/>
          </a:p>
          <a:p>
            <a:pPr marL="0" indent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后续所有参数调优都是为它服务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73752" y="3566160"/>
            <a:ext cx="3657600" cy="868680"/>
          </a:xfrm>
          <a:prstGeom prst="roundRect">
            <a:avLst>
              <a:gd name="adj" fmla="val 5263"/>
            </a:avLst>
          </a:prstGeom>
          <a:solidFill>
            <a:srgbClr val="16305C"/>
          </a:solidFill>
          <a:ln w="9525">
            <a:solidFill>
              <a:srgbClr val="FF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3566160"/>
            <a:ext cx="3401568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微调期间医小咪问答会临时下线 —— 已在项目流程中提前告知使用者。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数据准备与处理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源数据 与 数据切分策略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1133856"/>
          </a:xfrm>
          <a:prstGeom prst="roundRect">
            <a:avLst>
              <a:gd name="adj" fmla="val 4032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43584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源数据（课程提供）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554480"/>
            <a:ext cx="7863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medical_cot_zh.jsonl</a:t>
            </a: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2 万条医疗问答 · 48MB · 字段：Question / Complex_CoT / Response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847088"/>
            <a:ext cx="7863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示例：Q「一个 1 岁小孩在夏季头皮上长了些小结节……」 → R「从中医角度看，症状符合“蝼蛄疖”……」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小步快跑 → 增量续训（三档递进）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8229600" cy="329184"/>
          </a:xfrm>
          <a:prstGeom prst="roundRect">
            <a:avLst>
              <a:gd name="adj" fmla="val 8333"/>
            </a:avLst>
          </a:prstGeom>
          <a:solidFill>
            <a:srgbClr val="16305C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61488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数据档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51176" y="2761488"/>
            <a:ext cx="312724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43016" y="2761488"/>
            <a:ext cx="27614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实测训练时长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90672"/>
            <a:ext cx="8229600" cy="420624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3090672"/>
            <a:ext cx="184708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60 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51176" y="3090672"/>
            <a:ext cx="31272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冒烟验证（先跑通全流程）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43016" y="3090672"/>
            <a:ext cx="276148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2.6 分钟 / 4 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511296"/>
            <a:ext cx="8229600" cy="420624"/>
          </a:xfrm>
          <a:prstGeom prst="rect">
            <a:avLst/>
          </a:prstGeom>
          <a:solidFill>
            <a:srgbClr val="0A1E3C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3511296"/>
            <a:ext cx="184708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3000 条（去重后 2924）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51176" y="3511296"/>
            <a:ext cx="31272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正式训练第 1 档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43016" y="3511296"/>
            <a:ext cx="276148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2 小时 / 183 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420624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3931920"/>
            <a:ext cx="184708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2000 条（新增，与旧零重叠）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51176" y="3931920"/>
            <a:ext cx="31272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增量续训第 2 档（共 5000 条知识）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43016" y="3931920"/>
            <a:ext cx="276148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1.5–2.5 小时 / 123 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38454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16305C"/>
          </a:solidFill>
          <a:ln w="9525">
            <a:solidFill>
              <a:srgbClr val="00D4F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85216" y="4334383"/>
            <a:ext cx="79735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策略价值：小档先验证流程，大档再正式跑；增量续训让模型在已有知识上继续学，不用从头重训。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· QLoRA 微调实现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为什么用 QLoRA（原理）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2651760" cy="1572768"/>
          </a:xfrm>
          <a:prstGeom prst="roundRect">
            <a:avLst>
              <a:gd name="adj" fmla="val 2907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80160"/>
            <a:ext cx="23225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627632"/>
            <a:ext cx="2322576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冻结原模型，只训练注入的低秩矩阵 A×B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2340864"/>
            <a:ext cx="1920240" cy="256032"/>
          </a:xfrm>
          <a:prstGeom prst="roundRect">
            <a:avLst>
              <a:gd name="adj" fmla="val 42857"/>
            </a:avLst>
          </a:prstGeom>
          <a:solidFill>
            <a:srgbClr val="00D4FF"/>
          </a:solidFill>
        </p:spPr>
      </p:sp>
      <p:sp>
        <p:nvSpPr>
          <p:cNvPr id="12" name="Text 10"/>
          <p:cNvSpPr/>
          <p:nvPr/>
        </p:nvSpPr>
        <p:spPr>
          <a:xfrm>
            <a:off x="621792" y="2340864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可训参数 4B → 42M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152144"/>
            <a:ext cx="2651760" cy="1572768"/>
          </a:xfrm>
          <a:prstGeom prst="roundRect">
            <a:avLst>
              <a:gd name="adj" fmla="val 2907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280160"/>
            <a:ext cx="23225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4bit NF4 量化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0712" y="1627632"/>
            <a:ext cx="2322576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把模型权重压缩到 4bit，8G 显存才装得下 4B 模型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10712" y="2340864"/>
            <a:ext cx="1920240" cy="256032"/>
          </a:xfrm>
          <a:prstGeom prst="roundRect">
            <a:avLst>
              <a:gd name="adj" fmla="val 42857"/>
            </a:avLst>
          </a:prstGeom>
          <a:solidFill>
            <a:srgbClr val="4ADE80"/>
          </a:solidFill>
        </p:spPr>
      </p:sp>
      <p:sp>
        <p:nvSpPr>
          <p:cNvPr id="17" name="Text 15"/>
          <p:cNvSpPr/>
          <p:nvPr/>
        </p:nvSpPr>
        <p:spPr>
          <a:xfrm>
            <a:off x="3410712" y="2340864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显存节省约 75%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152144"/>
            <a:ext cx="2651760" cy="1572768"/>
          </a:xfrm>
          <a:prstGeom prst="roundRect">
            <a:avLst>
              <a:gd name="adj" fmla="val 2907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280160"/>
            <a:ext cx="23225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QLoRA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9632" y="1627632"/>
            <a:ext cx="2322576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4bit 量化 + LoRA 的组合，消费级显卡微调大模型的标准方案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9632" y="2340864"/>
            <a:ext cx="1920240" cy="256032"/>
          </a:xfrm>
          <a:prstGeom prst="roundRect">
            <a:avLst>
              <a:gd name="adj" fmla="val 42857"/>
            </a:avLst>
          </a:prstGeom>
          <a:solidFill>
            <a:srgbClr val="7FE0FF"/>
          </a:solidFill>
        </p:spPr>
      </p:sp>
      <p:sp>
        <p:nvSpPr>
          <p:cNvPr id="22" name="Text 20"/>
          <p:cNvSpPr/>
          <p:nvPr/>
        </p:nvSpPr>
        <p:spPr>
          <a:xfrm>
            <a:off x="6199632" y="2340864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28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本项目采用的方案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71216"/>
            <a:ext cx="8229600" cy="1316736"/>
          </a:xfrm>
          <a:prstGeom prst="roundRect">
            <a:avLst>
              <a:gd name="adj" fmla="val 3472"/>
            </a:avLst>
          </a:prstGeom>
          <a:solidFill>
            <a:srgbClr val="061428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2944368"/>
            <a:ext cx="7973568" cy="11704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380"/>
              </a:lnSpc>
              <a:buNone/>
            </a:pPr>
            <a:r>
              <a:rPr lang="en-US" sz="95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核心参数（8G 显存实测调优结果）</a:t>
            </a:r>
            <a:endParaRPr lang="en-US" sz="9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95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MAX_LEN = 704          # 8G 显存上限附近；超长样本直接过滤不截断（截断会教坏模型）</a:t>
            </a:r>
            <a:endParaRPr lang="en-US" sz="9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95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EPOCHS = 1   BATCH = 1   GRAD_ACCUM = 16    # 等效 batch 16</a:t>
            </a:r>
            <a:endParaRPr lang="en-US" sz="9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95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LR = 2e-4（首训）/ 1e-4（续训精修）    LORA_R = 32    LORA_ALPHA = 64</a:t>
            </a:r>
            <a:endParaRPr lang="en-US" sz="9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95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OPTIM = "paged_adamw_8bit"   # 8bit 分页优化器省显存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16305C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4279392"/>
            <a:ext cx="79735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一句话总结：QLoRA 让 8G 显存的笔记本也能微调 4B 参数的大模型。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· QLoRA 微调实现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8G 显存防 OOM 三板斧 + 训练脚本结构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402336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98448"/>
            <a:ext cx="3703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 OOM 三板斧（缺一不可）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682496"/>
            <a:ext cx="370332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① 先量化数据真实长度再定 MAX_LEN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统计 token 分位数（实测均值 505 / P95 712 / max 1189），MAX_LEN=768 只丢 2.1% 超长样本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② 超长样本过滤，不截断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batch=1 时显存峰值由批内最长样本决定；截断 = 答案不完整，会教坏模型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③ 梯度检查点 + 8bit 分页优化器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前向重算换显存，缺一不可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3711956"/>
            <a:ext cx="3703320" cy="859536"/>
          </a:xfrm>
          <a:prstGeom prst="roundRect">
            <a:avLst>
              <a:gd name="adj" fmla="val 5319"/>
            </a:avLst>
          </a:prstGeom>
          <a:solidFill>
            <a:srgbClr val="16305C"/>
          </a:solidFill>
          <a:ln w="9525">
            <a:solidFill>
              <a:srgbClr val="FFC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602736"/>
            <a:ext cx="3447288" cy="8595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血泪收敛过程：MAX_LEN = 2048 / 1536 / 1024 全部 OOM 崩过，768 才稳定，续训版留余量降到 704。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170432"/>
            <a:ext cx="4023360" cy="3401568"/>
          </a:xfrm>
          <a:prstGeom prst="roundRect">
            <a:avLst>
              <a:gd name="adj" fmla="val 1344"/>
            </a:avLst>
          </a:prstGeom>
          <a:solidFill>
            <a:srgbClr val="061428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243584"/>
            <a:ext cx="3767328" cy="3255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finetune_qwen35_medical.py 结构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① 读数据 → build_text() 拼 R1 格式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② 加载 4bit 基座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(BitsAndBytesConfig NF4)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③ 挂 LoRA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(get_peft_model /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PeftModel.from_pretrained)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④ 并行 tokenize（超长过滤）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⑤ Trainer 训练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存档策略：每 8 步一档，留 3 档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→ 断电可从最近档续上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⑥ save_pretrained 保存 adapter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增量续训脚本额外关键点：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PeftModel.from_pretrained(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base, 旧LoRA, is_trainable=True)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⚠️ 必须 is_trainable=True —— adapter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配置里存的是推理态，不显式解冻会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得到「可训参数 0.0M」→ 训练白跑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· 训练执行与调优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训练过程（真实数据）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8229600" cy="329184"/>
          </a:xfrm>
          <a:prstGeom prst="roundRect">
            <a:avLst>
              <a:gd name="adj" fmla="val 8333"/>
            </a:avLst>
          </a:prstGeom>
          <a:solidFill>
            <a:srgbClr val="16305C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170432"/>
            <a:ext cx="20299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数据档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34056" y="1170432"/>
            <a:ext cx="1207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05656" y="1170432"/>
            <a:ext cx="23042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实测时长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74536" y="1170432"/>
            <a:ext cx="20299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 loss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499616"/>
            <a:ext cx="8229600" cy="457200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1499616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60 条冒烟验证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34056" y="1499616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05656" y="1499616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2.6 分钟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74536" y="1499616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2.41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1956816"/>
            <a:ext cx="8229600" cy="457200"/>
          </a:xfrm>
          <a:prstGeom prst="rect">
            <a:avLst/>
          </a:prstGeom>
          <a:solidFill>
            <a:srgbClr val="0A1E3C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1956816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3000 条件正式训练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34056" y="1956816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183 步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05656" y="1956816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2 小时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74536" y="1956816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1.9 ~ 2.0 区间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414016"/>
            <a:ext cx="8229600" cy="457200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414016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续训 2000 条（共 5000）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34056" y="2414016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123 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05656" y="2414016"/>
            <a:ext cx="23042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1.5–2.5 小时（含救场）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74536" y="2414016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2.02 ~ 2.16 波动下降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2871343"/>
            <a:ext cx="8229600" cy="1170432"/>
          </a:xfrm>
          <a:prstGeom prst="roundRect">
            <a:avLst>
              <a:gd name="adj" fmla="val 3906"/>
            </a:avLst>
          </a:prstGeom>
          <a:solidFill>
            <a:srgbClr val="061428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" y="2871470"/>
            <a:ext cx="7973568" cy="10241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380"/>
              </a:lnSpc>
              <a:buNone/>
            </a:pPr>
            <a:r>
              <a:rPr lang="en-US" sz="95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启动训练</a:t>
            </a:r>
            <a:endParaRPr lang="en-US" sz="9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95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~/medical-ft</a:t>
            </a:r>
            <a:endParaRPr lang="en-US" sz="9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95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~/shixun-venv/bin/python finetune_qwen35_medical_cont2000.py</a:t>
            </a:r>
            <a:endParaRPr lang="en-US" sz="950" dirty="0"/>
          </a:p>
          <a:p>
            <a:pPr marL="0" indent="0">
              <a:lnSpc>
                <a:spcPts val="1380"/>
              </a:lnSpc>
              <a:buNone/>
            </a:pPr>
            <a:endParaRPr lang="en-US" sz="9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95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断电 / 中断后：从断点续训（进度零丢失）</a:t>
            </a:r>
            <a:endParaRPr lang="en-US" sz="950" dirty="0"/>
          </a:p>
          <a:p>
            <a:pPr marL="0" indent="0">
              <a:lnSpc>
                <a:spcPts val="1380"/>
              </a:lnSpc>
              <a:buNone/>
            </a:pPr>
            <a:r>
              <a:rPr lang="en-US" sz="95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RESUME_CKPT=~/medical-ft/ckpt-5000/checkpoint-XX ~/shixun-venv/bin/python finetune_qwen35_medical_cont2000.py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986784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16305C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3986784"/>
            <a:ext cx="7973568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工程化设计：正式训练开存档（每 20 分钟一档，保留 3 档），配合断点续训 —— 2000 条续训档全程中断 4 次，进度一次没丢、从未从头重跑。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· 训练执行与调优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8G 显存碎片化救场（本项目最硬核经验）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现象 与 诊断铁证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645920"/>
            <a:ext cx="365760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步速从正常的 40s/步 突然恶化到 100 ~ 300s/步，而 GPU 功耗只有约 35W —— 显卡在「空转整理碎片」。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2286000"/>
            <a:ext cx="3657600" cy="1335024"/>
          </a:xfrm>
          <a:prstGeom prst="roundRect">
            <a:avLst>
              <a:gd name="adj" fmla="val 3425"/>
            </a:avLst>
          </a:prstGeom>
          <a:solidFill>
            <a:srgbClr val="061428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59152"/>
            <a:ext cx="3401568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显存 7874 / 8151 MiB（96.6% 顶满）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SM 利用率 98% 但功耗仅 ~40W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GPU 在「等」（碎片整理）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pclk 锁 1500MHz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mclk 满血 9001MHz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不是省电模式，就是碎片化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" y="3730752"/>
            <a:ext cx="3657600" cy="731520"/>
          </a:xfrm>
          <a:prstGeom prst="roundRect">
            <a:avLst>
              <a:gd name="adj" fmla="val 6250"/>
            </a:avLst>
          </a:prstGeom>
          <a:solidFill>
            <a:srgbClr val="16305C"/>
          </a:solidFill>
          <a:ln w="9525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730752"/>
            <a:ext cx="34015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排查还要先排除干扰项：Windows 电源计划、Defender 定时扫描都已确认不是元凶。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解法（进度零丢失）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73752" y="1664208"/>
            <a:ext cx="832104" cy="365760"/>
          </a:xfrm>
          <a:prstGeom prst="roundRect">
            <a:avLst>
              <a:gd name="adj" fmla="val 15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664208"/>
            <a:ext cx="75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kill 进程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05856" y="1664208"/>
            <a:ext cx="1097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15584" y="1664208"/>
            <a:ext cx="832104" cy="365760"/>
          </a:xfrm>
          <a:prstGeom prst="roundRect">
            <a:avLst>
              <a:gd name="adj" fmla="val 15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664208"/>
            <a:ext cx="75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resume 最近档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47688" y="1664208"/>
            <a:ext cx="1097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57416" y="1664208"/>
            <a:ext cx="832104" cy="365760"/>
          </a:xfrm>
          <a:prstGeom prst="roundRect">
            <a:avLst>
              <a:gd name="adj" fmla="val 15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1664208"/>
            <a:ext cx="75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显存池清空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89520" y="1664208"/>
            <a:ext cx="1097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99248" y="1664208"/>
            <a:ext cx="832104" cy="365760"/>
          </a:xfrm>
          <a:prstGeom prst="roundRect">
            <a:avLst>
              <a:gd name="adj" fmla="val 15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664208"/>
            <a:ext cx="75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恢复 40s/步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3752" y="2157984"/>
            <a:ext cx="3657600" cy="10241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实战救场 4 次，123 步完整训完，从未从头重跑</a:t>
            </a:r>
            <a:endParaRPr lang="en-US" sz="105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resume 失败时退一档 checkpoint 再试（checkpoint-72 比 -80 更干净）</a:t>
            </a:r>
            <a:endParaRPr lang="en-US" sz="105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判断真实步速只看 checkpoint 落盘时间戳 —— tqdm 显示会骗人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73752" y="3730752"/>
            <a:ext cx="3657600" cy="731520"/>
          </a:xfrm>
          <a:prstGeom prst="roundRect">
            <a:avLst>
              <a:gd name="adj" fmla="val 6250"/>
            </a:avLst>
          </a:prstGeom>
          <a:solidFill>
            <a:srgbClr val="16305C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3730752"/>
            <a:ext cx="34015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这条经验的价值：8G 显卡训 4B 模型，「中途变慢 / OOM」是常态而非异常，checkpoint + resume 就是为它设计的。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· 效果验证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实测对比结果（原版 vs 3000 档 vs 5000 档）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8229600" cy="329184"/>
          </a:xfrm>
          <a:prstGeom prst="roundRect">
            <a:avLst>
              <a:gd name="adj" fmla="val 8333"/>
            </a:avLst>
          </a:prstGeom>
          <a:solidFill>
            <a:srgbClr val="16305C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170432"/>
            <a:ext cx="25786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测试题目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82696" y="1170432"/>
            <a:ext cx="175564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原版 qwen3.5:4b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02936" y="1170432"/>
            <a:ext cx="1572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3000 档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0296" y="1170432"/>
            <a:ext cx="16642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5000 档（续训）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499616"/>
            <a:ext cx="8229600" cy="566928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1499616"/>
            <a:ext cx="257860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中医：小孩头皮疮疡流脓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82696" y="1499616"/>
            <a:ext cx="17556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8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卡英文 think 想不出结果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02936" y="1499616"/>
            <a:ext cx="157276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 think 直接辨证论治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0296" y="1499616"/>
            <a:ext cx="166420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更快更稳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066544"/>
            <a:ext cx="8229600" cy="566928"/>
          </a:xfrm>
          <a:prstGeom prst="rect">
            <a:avLst/>
          </a:prstGeom>
          <a:solidFill>
            <a:srgbClr val="0A1E3C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2066544"/>
            <a:ext cx="257860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西医考点：胸水性质检查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82696" y="2066544"/>
            <a:ext cx="17556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8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卡英文 think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02936" y="2066544"/>
            <a:ext cx="157276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8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同样卡英文 think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0296" y="2066544"/>
            <a:ext cx="166420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答出「胸水 ADA 活性测定」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33472"/>
            <a:ext cx="8229600" cy="566928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633472"/>
            <a:ext cx="257860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失眠建议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82696" y="2633472"/>
            <a:ext cx="175564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8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中文 think 啰嗦半截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02936" y="2633472"/>
            <a:ext cx="157276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8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卡英文 think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0296" y="2633472"/>
            <a:ext cx="166420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分点专业回答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1298448"/>
          </a:xfrm>
          <a:prstGeom prst="roundRect">
            <a:avLst>
              <a:gd name="adj" fmla="val 3521"/>
            </a:avLst>
          </a:prstGeom>
          <a:solidFill>
            <a:srgbClr val="12294F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3291840"/>
            <a:ext cx="7973568" cy="1298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结论：微调让模型学会「医疗问答直接作答」，不再卡在英文思考里自说自话；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知识量从 3000 → 5000 条后，西医考点题也能答对（胸水 ADA 是结核性胸膜炎的标准考点）。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知识灌注 + 行为对齐，双重生效。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· 部署上线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部署链路总览（微调模型 → Ollama → 医小咪）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28016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182M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37360" y="1280160"/>
            <a:ext cx="1097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47088" y="12801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3664" y="128016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合并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bf16 8.1G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27248" y="1280160"/>
            <a:ext cx="1097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36976" y="12801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28016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convert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GGUF f16 8.65G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17136" y="1280160"/>
            <a:ext cx="1097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2801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28016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quantize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Q4_K_M 2.6G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07024" y="1280160"/>
            <a:ext cx="1097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16752" y="12801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28016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ollama create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2.8G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296912" y="1280160"/>
            <a:ext cx="1097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06640" y="12801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43216" y="128016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医小咪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011680"/>
            <a:ext cx="1984248" cy="914400"/>
          </a:xfrm>
          <a:prstGeom prst="roundRect">
            <a:avLst>
              <a:gd name="adj" fmla="val 6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121408"/>
            <a:ext cx="45720" cy="69494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7" name="Text 25"/>
          <p:cNvSpPr/>
          <p:nvPr/>
        </p:nvSpPr>
        <p:spPr>
          <a:xfrm>
            <a:off x="585216" y="2103120"/>
            <a:ext cx="172821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108 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85216" y="2596896"/>
            <a:ext cx="17282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合并 LoRA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32888" y="2011680"/>
            <a:ext cx="1984248" cy="914400"/>
          </a:xfrm>
          <a:prstGeom prst="roundRect">
            <a:avLst>
              <a:gd name="adj" fmla="val 6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32888" y="2121408"/>
            <a:ext cx="45720" cy="694944"/>
          </a:xfrm>
          <a:prstGeom prst="rect">
            <a:avLst/>
          </a:prstGeom>
          <a:solidFill>
            <a:srgbClr val="7FE0FF"/>
          </a:solidFill>
        </p:spPr>
      </p:sp>
      <p:sp>
        <p:nvSpPr>
          <p:cNvPr id="31" name="Text 29"/>
          <p:cNvSpPr/>
          <p:nvPr/>
        </p:nvSpPr>
        <p:spPr>
          <a:xfrm>
            <a:off x="2660904" y="2103120"/>
            <a:ext cx="172821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 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2660904" y="2596896"/>
            <a:ext cx="17282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convert 转 GGUF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08576" y="2011680"/>
            <a:ext cx="1984248" cy="914400"/>
          </a:xfrm>
          <a:prstGeom prst="roundRect">
            <a:avLst>
              <a:gd name="adj" fmla="val 6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8576" y="2121408"/>
            <a:ext cx="45720" cy="694944"/>
          </a:xfrm>
          <a:prstGeom prst="rect">
            <a:avLst/>
          </a:prstGeom>
          <a:solidFill>
            <a:srgbClr val="7FE0FF"/>
          </a:solidFill>
        </p:spPr>
      </p:sp>
      <p:sp>
        <p:nvSpPr>
          <p:cNvPr id="35" name="Text 33"/>
          <p:cNvSpPr/>
          <p:nvPr/>
        </p:nvSpPr>
        <p:spPr>
          <a:xfrm>
            <a:off x="4736592" y="2103120"/>
            <a:ext cx="172821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 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736592" y="2596896"/>
            <a:ext cx="17282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llama-quantize 量化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84264" y="2011680"/>
            <a:ext cx="1984248" cy="914400"/>
          </a:xfrm>
          <a:prstGeom prst="roundRect">
            <a:avLst>
              <a:gd name="adj" fmla="val 6000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84264" y="2121408"/>
            <a:ext cx="45720" cy="694944"/>
          </a:xfrm>
          <a:prstGeom prst="rect">
            <a:avLst/>
          </a:prstGeom>
          <a:solidFill>
            <a:srgbClr val="4ADE80"/>
          </a:solidFill>
        </p:spPr>
      </p:sp>
      <p:sp>
        <p:nvSpPr>
          <p:cNvPr id="39" name="Text 37"/>
          <p:cNvSpPr/>
          <p:nvPr/>
        </p:nvSpPr>
        <p:spPr>
          <a:xfrm>
            <a:off x="6812280" y="2103120"/>
            <a:ext cx="172821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2.8 G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812280" y="2596896"/>
            <a:ext cx="17282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Ollama 最终体积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3125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3218688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关键决策：为什么走 CPU 合并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1792" y="3547872"/>
            <a:ext cx="7863840" cy="10241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8G 显存放不下 bf16 全量模型（4B ≈ 8.8G）→ LoRA 合并改走 CPU（内存 11G，实测 108 秒完成）</a:t>
            </a:r>
            <a:endParaRPr lang="en-US" sz="1050" dirty="0"/>
          </a:p>
          <a:p>
            <a:pPr marL="0" indent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合并必须保留原版权重，「Qwen3.5-4B-Instruct/」目录不能删 —— 删了以后无法再合并</a:t>
            </a:r>
            <a:endParaRPr lang="en-US" sz="1050" dirty="0"/>
          </a:p>
          <a:p>
            <a:pPr marL="0" indent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先量化成 Q4_K_M（与原版同级精度），再用 ollama create 建新名字 —— 原版永远保留，随时可回滚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· 部署上线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 多模态架构大坑（本项目最深教训）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现象：转换后的模型加载报错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1682496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061428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55648"/>
            <a:ext cx="3401568" cy="768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tensor 'blk.32.attn_norm.weight'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 found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（llama.cpp 与 Ollama 同报）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724912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根因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2962656"/>
            <a:ext cx="36576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魔搭的 Qwen/Qwen3.5-4B 是多模态完整版，共 738 个张量 = text 主干 426 + mtp 15 + vision 297。LoRA 合并只导出 text 主干，config 里却还声明着 mtp 层 → 写完 block_count=33 却没有对应权重。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正解：从原版权重补回 mtp 张量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1700784"/>
            <a:ext cx="3657600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从原版 safetensors 补回 15 个 mtp.* 张量，生成独立的 model.mtp.safetensors + index.json</a:t>
            </a:r>
            <a:endParaRPr lang="en-US" sz="105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补齐后共 441 个张量，再 convert 一次成功</a:t>
            </a:r>
            <a:endParaRPr lang="en-US" sz="105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vision 张量不需要补 —— 文本应用不会加载视觉分支</a:t>
            </a:r>
            <a:endParaRPr lang="en-US" sz="105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踩过的弯路：把 mtp 声明改成 0 会触发 convert 断言崩溃，qwen35 转换强制要求带 mtp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73752" y="3712464"/>
            <a:ext cx="3657600" cy="749808"/>
          </a:xfrm>
          <a:prstGeom prst="roundRect">
            <a:avLst>
              <a:gd name="adj" fmla="val 6098"/>
            </a:avLst>
          </a:prstGeom>
          <a:solidFill>
            <a:srgbClr val="16305C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3712464"/>
            <a:ext cx="340156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patch_mtp_5000.py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补齐 15 个 mtp 张量，index.json 441 个张量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· 部署上线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Ollama 部署 与 医小咪换脑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Ollama 部署（新名字，可回滚）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1682496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061428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55648"/>
            <a:ext cx="3401568" cy="1225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Modelfile-med3.txt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.../qwen35-med3-q4_k_m.gguf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PARAMETER temperature 1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PARAMETER top_k 20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PARAMETER top_p 0.95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PARAMETER presence_penalty 1.5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" y="3163824"/>
            <a:ext cx="3657600" cy="1243584"/>
          </a:xfrm>
          <a:prstGeom prst="roundRect">
            <a:avLst>
              <a:gd name="adj" fmla="val 3676"/>
            </a:avLst>
          </a:prstGeom>
          <a:solidFill>
            <a:srgbClr val="061428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236976"/>
            <a:ext cx="3401568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先本地 llama-server 验证再入库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llama-server -m qwen35-med3-q4_k_m.gguf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-c 2048 --port 8099   # 看 "model loaded"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ollama create qwen3.5:4b-med3 -f Modelfile-med3.txt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ollama list   # 三版本并存，原版永远保留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应用集成（医小咪换脑）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164592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模型名常量只有两处，不在 main.py 硬编码：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73752" y="1920240"/>
            <a:ext cx="3657600" cy="1005840"/>
          </a:xfrm>
          <a:prstGeom prst="roundRect">
            <a:avLst>
              <a:gd name="adj" fmla="val 4545"/>
            </a:avLst>
          </a:prstGeom>
          <a:solidFill>
            <a:srgbClr val="061428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993392"/>
            <a:ext cx="3401568" cy="8595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app/rag.py（问答/护理计划/宠物/俳句）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LLM_MODEL = "qwen3.5:4b-med3"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app/vision.py（看图 OCR 解读）</a:t>
            </a:r>
            <a:endParaRPr lang="en-US" sz="900" dirty="0"/>
          </a:p>
          <a:p>
            <a:pPr marL="0" indent="0">
              <a:lnSpc>
                <a:spcPts val="1305"/>
              </a:lnSpc>
              <a:buNone/>
            </a:pPr>
            <a:r>
              <a:rPr lang="en-US" sz="900" dirty="0">
                <a:solidFill>
                  <a:srgbClr val="7FE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TEXT_MODEL = "qwen3.5:4b-med3"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73752" y="3017520"/>
            <a:ext cx="3657600" cy="10241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改前 cp 备份 → 改后 AST 静态验证（不 import，避免拉起 Chroma 副作用）</a:t>
            </a:r>
            <a:endParaRPr lang="en-US" sz="100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重跑幂等 bash start.sh 重启 API，新模型生效</a:t>
            </a:r>
            <a:endParaRPr lang="en-US" sz="1000" dirty="0"/>
          </a:p>
          <a:p>
            <a:pPr marL="0" indent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设计上三版本并存：原版 4b / 3000 档 med / 5000 档 med3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73752" y="4041648"/>
            <a:ext cx="3657600" cy="420624"/>
          </a:xfrm>
          <a:prstGeom prst="roundRect">
            <a:avLst>
              <a:gd name="adj" fmla="val 10870"/>
            </a:avLst>
          </a:prstGeom>
          <a:solidFill>
            <a:srgbClr val="16305C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4041648"/>
            <a:ext cx="34015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换脑成功：医小咪主脑 = qwen3.5:4b-med3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· 总结与展望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成果与后续方向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项目成果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3657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全链路跑通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环境 → 数据 → QLoRA 微调 → 验证 → 部署 → 应用集成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数据规模达标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3000 + 2000 条增量续训，共 5000 条医疗知识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成果真实上线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微调模型已服务医小咪用户，版本可回滚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沉淀硬核经验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8G 显存碎片化救场、Qwen3.5 mtp 补丁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3977640" cy="3401568"/>
          </a:xfrm>
          <a:prstGeom prst="roundRect">
            <a:avLst>
              <a:gd name="adj" fmla="val 1344"/>
            </a:avLst>
          </a:prstGeom>
          <a:solidFill>
            <a:srgbClr val="12294F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2984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未来展望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700784"/>
            <a:ext cx="3657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全量数据训练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2W 条全量约需 15-20 小时挂机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更多医疗场景评测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方剂推荐准确率、病历结构化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数据质量清洗</a:t>
            </a:r>
            <a:endParaRPr lang="en-US" sz="1050" dirty="0"/>
          </a:p>
          <a:p>
            <a:pPr marL="0" indent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合成数据含噪声，人工校验子集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附录 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现场演示脚本清单（8 个演示点）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77240" cy="502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" name="Text 3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40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37176"/>
            <a:ext cx="54864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Qwen3.5-4B 医疗专家模型微调与部署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33856"/>
            <a:ext cx="8229600" cy="310896"/>
          </a:xfrm>
          <a:prstGeom prst="roundRect">
            <a:avLst>
              <a:gd name="adj" fmla="val 8824"/>
            </a:avLst>
          </a:prstGeom>
          <a:solidFill>
            <a:srgbClr val="16305C"/>
          </a:solidFill>
          <a:ln w="9525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133856"/>
            <a:ext cx="29260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6696" y="1133856"/>
            <a:ext cx="28529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演示内容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14216" y="1133856"/>
            <a:ext cx="312724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预期结果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06056" y="1133856"/>
            <a:ext cx="129844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耗时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44752"/>
            <a:ext cx="8229600" cy="342900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1444752"/>
            <a:ext cx="29260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96696" y="1444752"/>
            <a:ext cx="285292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环境展示（torch / cuda）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14216" y="1444752"/>
            <a:ext cx="31272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2.11.0+cu128  True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06056" y="1444752"/>
            <a:ext cx="12984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1787652"/>
            <a:ext cx="8229600" cy="342900"/>
          </a:xfrm>
          <a:prstGeom prst="rect">
            <a:avLst/>
          </a:prstGeom>
          <a:solidFill>
            <a:srgbClr val="0A1E3C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1787652"/>
            <a:ext cx="29260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96696" y="1787652"/>
            <a:ext cx="285292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数据格式展示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14216" y="1787652"/>
            <a:ext cx="31272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三字段 + R1 模板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06056" y="1787652"/>
            <a:ext cx="12984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130552"/>
            <a:ext cx="8229600" cy="342900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130552"/>
            <a:ext cx="29260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96696" y="2130552"/>
            <a:ext cx="285292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训练脚本讲解（QLoRA 参数）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14216" y="2130552"/>
            <a:ext cx="31272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展示防 OOM 配置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06056" y="2130552"/>
            <a:ext cx="12984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2473452"/>
            <a:ext cx="8229600" cy="342900"/>
          </a:xfrm>
          <a:prstGeom prst="rect">
            <a:avLst/>
          </a:prstGeom>
          <a:solidFill>
            <a:srgbClr val="0A1E3C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" y="2473452"/>
            <a:ext cx="29260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96696" y="2473452"/>
            <a:ext cx="285292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现场小训练（60 条小档）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14216" y="2473452"/>
            <a:ext cx="31272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loss 下降 + adapter 保存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06056" y="2473452"/>
            <a:ext cx="12984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3 分钟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2816352"/>
            <a:ext cx="8229600" cy="342900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" y="2816352"/>
            <a:ext cx="29260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96696" y="2816352"/>
            <a:ext cx="285292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效果对比推理 compare_4way.py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014216" y="2816352"/>
            <a:ext cx="31272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5000 档直接中文作答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06056" y="2816352"/>
            <a:ext cx="12984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4 分 20 秒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159252"/>
            <a:ext cx="8229600" cy="342900"/>
          </a:xfrm>
          <a:prstGeom prst="rect">
            <a:avLst/>
          </a:prstGeom>
          <a:solidFill>
            <a:srgbClr val="0A1E3C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" y="3159252"/>
            <a:ext cx="29260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96696" y="3159252"/>
            <a:ext cx="285292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部署产物 ollama list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014216" y="3159252"/>
            <a:ext cx="31272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三模型并存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06056" y="3159252"/>
            <a:ext cx="12984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502152"/>
            <a:ext cx="8229600" cy="342900"/>
          </a:xfrm>
          <a:prstGeom prst="rect">
            <a:avLst/>
          </a:prstGeom>
          <a:solidFill>
            <a:srgbClr val="12294F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" y="3502152"/>
            <a:ext cx="29260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96696" y="3502152"/>
            <a:ext cx="285292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现场问答（医小咪页面）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014216" y="3502152"/>
            <a:ext cx="31272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专业医疗回答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06056" y="3502152"/>
            <a:ext cx="12984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3845052"/>
            <a:ext cx="8229600" cy="342900"/>
          </a:xfrm>
          <a:prstGeom prst="rect">
            <a:avLst/>
          </a:prstGeom>
          <a:solidFill>
            <a:srgbClr val="0A1E3C"/>
          </a:solidFill>
          <a:ln w="6350">
            <a:solidFill>
              <a:srgbClr val="2440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496" y="3845052"/>
            <a:ext cx="29260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96696" y="3845052"/>
            <a:ext cx="285292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自动化验证脚本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014216" y="3845052"/>
            <a:ext cx="31272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15/15 断言通过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06056" y="3845052"/>
            <a:ext cx="1298448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 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297680"/>
            <a:ext cx="8229600" cy="402336"/>
          </a:xfrm>
          <a:prstGeom prst="roundRect">
            <a:avLst>
              <a:gd name="adj" fmla="val 11364"/>
            </a:avLst>
          </a:prstGeom>
          <a:solidFill>
            <a:srgbClr val="16305C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" y="4297680"/>
            <a:ext cx="79735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A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原则：提前把脚本放好，按顺序跑；除演示点 4、5 外，其余演示点均在 30 秒内出结果。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" name="Shape 1"/>
          <p:cNvSpPr/>
          <p:nvPr/>
        </p:nvSpPr>
        <p:spPr>
          <a:xfrm>
            <a:off x="649224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" name="Shape 2"/>
          <p:cNvSpPr/>
          <p:nvPr/>
        </p:nvSpPr>
        <p:spPr>
          <a:xfrm>
            <a:off x="795528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" name="Shape 3"/>
          <p:cNvSpPr/>
          <p:nvPr/>
        </p:nvSpPr>
        <p:spPr>
          <a:xfrm>
            <a:off x="941832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6" name="Shape 4"/>
          <p:cNvSpPr/>
          <p:nvPr/>
        </p:nvSpPr>
        <p:spPr>
          <a:xfrm>
            <a:off x="1088136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7" name="Shape 5"/>
          <p:cNvSpPr/>
          <p:nvPr/>
        </p:nvSpPr>
        <p:spPr>
          <a:xfrm>
            <a:off x="1234440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8" name="Shape 6"/>
          <p:cNvSpPr/>
          <p:nvPr/>
        </p:nvSpPr>
        <p:spPr>
          <a:xfrm>
            <a:off x="1380744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9" name="Shape 7"/>
          <p:cNvSpPr/>
          <p:nvPr/>
        </p:nvSpPr>
        <p:spPr>
          <a:xfrm>
            <a:off x="1527048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0" name="Shape 8"/>
          <p:cNvSpPr/>
          <p:nvPr/>
        </p:nvSpPr>
        <p:spPr>
          <a:xfrm>
            <a:off x="1673352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1" name="Shape 9"/>
          <p:cNvSpPr/>
          <p:nvPr/>
        </p:nvSpPr>
        <p:spPr>
          <a:xfrm>
            <a:off x="1819656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2" name="Shape 10"/>
          <p:cNvSpPr/>
          <p:nvPr/>
        </p:nvSpPr>
        <p:spPr>
          <a:xfrm>
            <a:off x="1965960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3" name="Shape 11"/>
          <p:cNvSpPr/>
          <p:nvPr/>
        </p:nvSpPr>
        <p:spPr>
          <a:xfrm>
            <a:off x="2112264" y="4023360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4" name="Shape 12"/>
          <p:cNvSpPr/>
          <p:nvPr/>
        </p:nvSpPr>
        <p:spPr>
          <a:xfrm>
            <a:off x="502920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5" name="Shape 13"/>
          <p:cNvSpPr/>
          <p:nvPr/>
        </p:nvSpPr>
        <p:spPr>
          <a:xfrm>
            <a:off x="649224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6" name="Shape 14"/>
          <p:cNvSpPr/>
          <p:nvPr/>
        </p:nvSpPr>
        <p:spPr>
          <a:xfrm>
            <a:off x="795528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7" name="Shape 15"/>
          <p:cNvSpPr/>
          <p:nvPr/>
        </p:nvSpPr>
        <p:spPr>
          <a:xfrm>
            <a:off x="941832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8" name="Shape 16"/>
          <p:cNvSpPr/>
          <p:nvPr/>
        </p:nvSpPr>
        <p:spPr>
          <a:xfrm>
            <a:off x="1088136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19" name="Shape 17"/>
          <p:cNvSpPr/>
          <p:nvPr/>
        </p:nvSpPr>
        <p:spPr>
          <a:xfrm>
            <a:off x="1234440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0" name="Shape 18"/>
          <p:cNvSpPr/>
          <p:nvPr/>
        </p:nvSpPr>
        <p:spPr>
          <a:xfrm>
            <a:off x="1380744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1" name="Shape 19"/>
          <p:cNvSpPr/>
          <p:nvPr/>
        </p:nvSpPr>
        <p:spPr>
          <a:xfrm>
            <a:off x="1527048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2" name="Shape 20"/>
          <p:cNvSpPr/>
          <p:nvPr/>
        </p:nvSpPr>
        <p:spPr>
          <a:xfrm>
            <a:off x="1673352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3" name="Shape 21"/>
          <p:cNvSpPr/>
          <p:nvPr/>
        </p:nvSpPr>
        <p:spPr>
          <a:xfrm>
            <a:off x="1819656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4" name="Shape 22"/>
          <p:cNvSpPr/>
          <p:nvPr/>
        </p:nvSpPr>
        <p:spPr>
          <a:xfrm>
            <a:off x="1965960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5" name="Shape 23"/>
          <p:cNvSpPr/>
          <p:nvPr/>
        </p:nvSpPr>
        <p:spPr>
          <a:xfrm>
            <a:off x="2112264" y="4169664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6" name="Shape 24"/>
          <p:cNvSpPr/>
          <p:nvPr/>
        </p:nvSpPr>
        <p:spPr>
          <a:xfrm>
            <a:off x="502920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7" name="Shape 25"/>
          <p:cNvSpPr/>
          <p:nvPr/>
        </p:nvSpPr>
        <p:spPr>
          <a:xfrm>
            <a:off x="649224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8" name="Shape 26"/>
          <p:cNvSpPr/>
          <p:nvPr/>
        </p:nvSpPr>
        <p:spPr>
          <a:xfrm>
            <a:off x="795528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29" name="Shape 27"/>
          <p:cNvSpPr/>
          <p:nvPr/>
        </p:nvSpPr>
        <p:spPr>
          <a:xfrm>
            <a:off x="941832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0" name="Shape 28"/>
          <p:cNvSpPr/>
          <p:nvPr/>
        </p:nvSpPr>
        <p:spPr>
          <a:xfrm>
            <a:off x="1088136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1" name="Shape 29"/>
          <p:cNvSpPr/>
          <p:nvPr/>
        </p:nvSpPr>
        <p:spPr>
          <a:xfrm>
            <a:off x="1234440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2" name="Shape 30"/>
          <p:cNvSpPr/>
          <p:nvPr/>
        </p:nvSpPr>
        <p:spPr>
          <a:xfrm>
            <a:off x="1380744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3" name="Shape 31"/>
          <p:cNvSpPr/>
          <p:nvPr/>
        </p:nvSpPr>
        <p:spPr>
          <a:xfrm>
            <a:off x="1527048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4" name="Shape 32"/>
          <p:cNvSpPr/>
          <p:nvPr/>
        </p:nvSpPr>
        <p:spPr>
          <a:xfrm>
            <a:off x="1673352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5" name="Shape 33"/>
          <p:cNvSpPr/>
          <p:nvPr/>
        </p:nvSpPr>
        <p:spPr>
          <a:xfrm>
            <a:off x="1819656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6" name="Shape 34"/>
          <p:cNvSpPr/>
          <p:nvPr/>
        </p:nvSpPr>
        <p:spPr>
          <a:xfrm>
            <a:off x="1965960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7" name="Shape 35"/>
          <p:cNvSpPr/>
          <p:nvPr/>
        </p:nvSpPr>
        <p:spPr>
          <a:xfrm>
            <a:off x="2112264" y="4315968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8" name="Shape 36"/>
          <p:cNvSpPr/>
          <p:nvPr/>
        </p:nvSpPr>
        <p:spPr>
          <a:xfrm>
            <a:off x="502920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39" name="Shape 37"/>
          <p:cNvSpPr/>
          <p:nvPr/>
        </p:nvSpPr>
        <p:spPr>
          <a:xfrm>
            <a:off x="649224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0" name="Shape 38"/>
          <p:cNvSpPr/>
          <p:nvPr/>
        </p:nvSpPr>
        <p:spPr>
          <a:xfrm>
            <a:off x="795528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1" name="Shape 39"/>
          <p:cNvSpPr/>
          <p:nvPr/>
        </p:nvSpPr>
        <p:spPr>
          <a:xfrm>
            <a:off x="941832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2" name="Shape 40"/>
          <p:cNvSpPr/>
          <p:nvPr/>
        </p:nvSpPr>
        <p:spPr>
          <a:xfrm>
            <a:off x="1088136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3" name="Shape 41"/>
          <p:cNvSpPr/>
          <p:nvPr/>
        </p:nvSpPr>
        <p:spPr>
          <a:xfrm>
            <a:off x="1234440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4" name="Shape 42"/>
          <p:cNvSpPr/>
          <p:nvPr/>
        </p:nvSpPr>
        <p:spPr>
          <a:xfrm>
            <a:off x="1380744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5" name="Shape 43"/>
          <p:cNvSpPr/>
          <p:nvPr/>
        </p:nvSpPr>
        <p:spPr>
          <a:xfrm>
            <a:off x="1527048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6" name="Shape 44"/>
          <p:cNvSpPr/>
          <p:nvPr/>
        </p:nvSpPr>
        <p:spPr>
          <a:xfrm>
            <a:off x="1673352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7" name="Shape 45"/>
          <p:cNvSpPr/>
          <p:nvPr/>
        </p:nvSpPr>
        <p:spPr>
          <a:xfrm>
            <a:off x="1819656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8" name="Shape 46"/>
          <p:cNvSpPr/>
          <p:nvPr/>
        </p:nvSpPr>
        <p:spPr>
          <a:xfrm>
            <a:off x="1965960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49" name="Shape 47"/>
          <p:cNvSpPr/>
          <p:nvPr/>
        </p:nvSpPr>
        <p:spPr>
          <a:xfrm>
            <a:off x="2112264" y="4462272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0" name="Shape 48"/>
          <p:cNvSpPr/>
          <p:nvPr/>
        </p:nvSpPr>
        <p:spPr>
          <a:xfrm>
            <a:off x="502920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1" name="Shape 49"/>
          <p:cNvSpPr/>
          <p:nvPr/>
        </p:nvSpPr>
        <p:spPr>
          <a:xfrm>
            <a:off x="649224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2" name="Shape 50"/>
          <p:cNvSpPr/>
          <p:nvPr/>
        </p:nvSpPr>
        <p:spPr>
          <a:xfrm>
            <a:off x="795528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3" name="Shape 51"/>
          <p:cNvSpPr/>
          <p:nvPr/>
        </p:nvSpPr>
        <p:spPr>
          <a:xfrm>
            <a:off x="941832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4" name="Shape 52"/>
          <p:cNvSpPr/>
          <p:nvPr/>
        </p:nvSpPr>
        <p:spPr>
          <a:xfrm>
            <a:off x="1088136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5" name="Shape 53"/>
          <p:cNvSpPr/>
          <p:nvPr/>
        </p:nvSpPr>
        <p:spPr>
          <a:xfrm>
            <a:off x="1234440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6" name="Shape 54"/>
          <p:cNvSpPr/>
          <p:nvPr/>
        </p:nvSpPr>
        <p:spPr>
          <a:xfrm>
            <a:off x="1380744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7" name="Shape 55"/>
          <p:cNvSpPr/>
          <p:nvPr/>
        </p:nvSpPr>
        <p:spPr>
          <a:xfrm>
            <a:off x="1527048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8" name="Shape 56"/>
          <p:cNvSpPr/>
          <p:nvPr/>
        </p:nvSpPr>
        <p:spPr>
          <a:xfrm>
            <a:off x="1673352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59" name="Shape 57"/>
          <p:cNvSpPr/>
          <p:nvPr/>
        </p:nvSpPr>
        <p:spPr>
          <a:xfrm>
            <a:off x="1819656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60" name="Shape 58"/>
          <p:cNvSpPr/>
          <p:nvPr/>
        </p:nvSpPr>
        <p:spPr>
          <a:xfrm>
            <a:off x="1965960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61" name="Shape 59"/>
          <p:cNvSpPr/>
          <p:nvPr/>
        </p:nvSpPr>
        <p:spPr>
          <a:xfrm>
            <a:off x="2112264" y="4608576"/>
            <a:ext cx="27432" cy="27432"/>
          </a:xfrm>
          <a:prstGeom prst="ellipse">
            <a:avLst/>
          </a:prstGeom>
          <a:solidFill>
            <a:srgbClr val="24406E"/>
          </a:solidFill>
        </p:spPr>
      </p:sp>
      <p:sp>
        <p:nvSpPr>
          <p:cNvPr id="62" name="Shape 60"/>
          <p:cNvSpPr/>
          <p:nvPr/>
        </p:nvSpPr>
        <p:spPr>
          <a:xfrm>
            <a:off x="7452360" y="457200"/>
            <a:ext cx="1417320" cy="1417320"/>
          </a:xfrm>
          <a:prstGeom prst="ellipse">
            <a:avLst/>
          </a:prstGeom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64170" y="769010"/>
            <a:ext cx="793699" cy="793699"/>
          </a:xfrm>
          <a:prstGeom prst="ellipse">
            <a:avLst/>
          </a:prstGeom>
          <a:ln w="9525">
            <a:solidFill>
              <a:srgbClr val="7FE0F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75981" y="1080821"/>
            <a:ext cx="170078" cy="170078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65" name="Shape 63"/>
          <p:cNvSpPr/>
          <p:nvPr/>
        </p:nvSpPr>
        <p:spPr>
          <a:xfrm>
            <a:off x="566928" y="1737360"/>
            <a:ext cx="68580" cy="1188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66" name="Text 64"/>
          <p:cNvSpPr/>
          <p:nvPr/>
        </p:nvSpPr>
        <p:spPr>
          <a:xfrm>
            <a:off x="777240" y="1691640"/>
            <a:ext cx="7315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谢谢聆听</a:t>
            </a:r>
            <a:endParaRPr lang="en-US" sz="3400" dirty="0"/>
          </a:p>
        </p:txBody>
      </p:sp>
      <p:sp>
        <p:nvSpPr>
          <p:cNvPr id="67" name="Text 65"/>
          <p:cNvSpPr/>
          <p:nvPr/>
        </p:nvSpPr>
        <p:spPr>
          <a:xfrm>
            <a:off x="777240" y="2377440"/>
            <a:ext cx="7315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E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欢迎提问与交流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77240" y="3017520"/>
            <a:ext cx="7589520" cy="18288"/>
          </a:xfrm>
          <a:prstGeom prst="rect">
            <a:avLst/>
          </a:prstGeom>
          <a:solidFill>
            <a:srgbClr val="24406E"/>
          </a:solidFill>
        </p:spPr>
      </p:sp>
      <p:sp>
        <p:nvSpPr>
          <p:cNvPr id="69" name="Text 67"/>
          <p:cNvSpPr/>
          <p:nvPr/>
        </p:nvSpPr>
        <p:spPr>
          <a:xfrm>
            <a:off x="777240" y="3154680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演示环境 · </a:t>
            </a:r>
            <a:r>
              <a:rPr lang="en-US" sz="1100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http://localhost:8000</a:t>
            </a:r>
            <a:r>
              <a:rPr lang="en-US" sz="110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｜   公网 · </a:t>
            </a:r>
            <a:r>
              <a:rPr lang="en-US" sz="1100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https://yixiaomiao.osanu.dpdns.org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77240" y="3520440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小组：4 人    ｜    课程：泰迪《基于 DeepSeek 大模型微调的医疗专家模型》    ｜    2026 年 9 月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7494</Words>
  <Application>WPS 演示</Application>
  <PresentationFormat>On-screen Show (16:9)</PresentationFormat>
  <Paragraphs>801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Qwen3.5-4B 的医疗专家大模型微调与部署</dc:title>
  <dc:creator>医疗专家模型微调小组</dc:creator>
  <dc:subject>PptxGenJS Presentation</dc:subject>
  <cp:lastModifiedBy>WPS_1695277894</cp:lastModifiedBy>
  <cp:revision>2</cp:revision>
  <dcterms:created xsi:type="dcterms:W3CDTF">2026-09-10T14:55:00Z</dcterms:created>
  <dcterms:modified xsi:type="dcterms:W3CDTF">2026-09-10T14:59:28Z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8614594B2E604396959D634056760D4C_12</vt:lpwstr>
  </property>
  <property fmtid="{D5CDD505-2E9C-101B-9397-08002B2CF9AE}" pid="3" name="KSOProductBuildVer">
    <vt:lpwstr>2052-12.1.0.28505</vt:lpwstr>
  </property>
</Properties>
</file>